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73129d6-97ae-3fe5-cca7-8326704aad68}">
          <p14:sldIdLst>
            <p14:sldId id="256"/>
            <p14:sldId id="257"/>
            <p14:sldId id="258"/>
          </p14:sldIdLst>
        </p14:section>
        <p14:section name="Data and method" id="{f579e465-18c3-56c0-740d-2f27e4a38145}">
          <p14:sldIdLst>
            <p14:sldId id="259"/>
            <p14:sldId id="260"/>
            <p14:sldId id="261"/>
          </p14:sldIdLst>
        </p14:section>
        <p14:section name="Dashboard" id="{fe727420-d0d1-4602-1a52-becc2d63494b}">
          <p14:sldIdLst>
            <p14:sldId id="262"/>
          </p14:sldIdLst>
        </p14:section>
        <p14:section name="Insights" id="{a8191230-aa9a-f276-b020-dcfda0707358}">
          <p14:sldIdLst>
            <p14:sldId id="263"/>
            <p14:sldId id="264"/>
            <p14:sldId id="265"/>
            <p14:sldId id="266"/>
          </p14:sldIdLst>
        </p14:section>
        <p14:section name="Conclusion" id="{208f2b9a-392a-f079-de94-eaa322c735d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Units sold (top three brands and lowest)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FF7A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Samsung</c:v>
                  </c:pt>
                  <c:pt idx="1">
                    <c:v>Xiaomi</c:v>
                  </c:pt>
                  <c:pt idx="2">
                    <c:v>Apple</c:v>
                  </c:pt>
                  <c:pt idx="3">
                    <c:v>Nothing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224755</c:v>
                </c:pt>
                <c:pt idx="1">
                  <c:v>177321</c:v>
                </c:pt>
                <c:pt idx="2">
                  <c:v>147893</c:v>
                </c:pt>
                <c:pt idx="3">
                  <c:v>63552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3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F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Average selling price, INR (two highest, three lowest)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selling price</c:v>
                </c:pt>
              </c:strCache>
            </c:strRef>
          </c:tx>
          <c:spPr>
            <a:solidFill>
              <a:srgbClr val="FF7A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3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A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5C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Apple</c:v>
                  </c:pt>
                  <c:pt idx="1">
                    <c:v>Google</c:v>
                  </c:pt>
                  <c:pt idx="2">
                    <c:v>Xiaomi</c:v>
                  </c:pt>
                  <c:pt idx="3">
                    <c:v>Nothing</c:v>
                  </c:pt>
                  <c:pt idx="4">
                    <c:v>Realme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78810</c:v>
                </c:pt>
                <c:pt idx="1">
                  <c:v>72313</c:v>
                </c:pt>
                <c:pt idx="2">
                  <c:v>29949</c:v>
                </c:pt>
                <c:pt idx="3">
                  <c:v>29693</c:v>
                </c:pt>
                <c:pt idx="4">
                  <c:v>26358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3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F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3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340"/>
                </a:solidFill>
                <a:latin typeface="+mn-lt"/>
              </a:rPr>
              <a:t>Units by operating system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 by 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5CFF"/>
              </a:solidFill>
              <a:effectLst/>
            </c:spPr>
          </c:dPt>
          <c:dPt>
            <c:idx val="1"/>
            <c:bubble3D val="0"/>
            <c:spPr>
              <a:solidFill>
                <a:srgbClr val="FF7A4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Android</c:v>
                </c:pt>
                <c:pt idx="1">
                  <c:v>iOS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1107560</c:v>
                </c:pt>
                <c:pt idx="1">
                  <c:v>147893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34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title slide. Smartphone price comparison using MySQL and Power BI, by JAYASABARI, Anudip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5303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Smartphone Price Comparison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Power BI + SQL Data Analysis Project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JAYASABARI  ·  Anudip Foundation  ·  DBA_AI  ·  Batch ANP-D7635</a:t>
            </a:r>
            <a:endParaRPr lang="en-US" sz="1200" dirty="0"/>
          </a:p>
        </p:txBody>
      </p:sp>
      <p:sp>
        <p:nvSpPr>
          <p:cNvPr id="5" name="Phone body"/>
          <p:cNvSpPr/>
          <p:nvPr/>
        </p:nvSpPr>
        <p:spPr>
          <a:xfrm>
            <a:off x="6492240" y="685800"/>
            <a:ext cx="2103120" cy="3749040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6" name="Phone screen"/>
          <p:cNvSpPr/>
          <p:nvPr/>
        </p:nvSpPr>
        <p:spPr>
          <a:xfrm>
            <a:off x="6675120" y="914400"/>
            <a:ext cx="1737360" cy="3291840"/>
          </a:xfrm>
          <a:prstGeom prst="roundRect">
            <a:avLst>
              <a:gd name="adj" fmla="val 789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7" name="Sun"/>
          <p:cNvSpPr/>
          <p:nvPr/>
        </p:nvSpPr>
        <p:spPr>
          <a:xfrm>
            <a:off x="6995160" y="1737360"/>
            <a:ext cx="1097280" cy="10972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8" name="Horizon"/>
          <p:cNvSpPr/>
          <p:nvPr/>
        </p:nvSpPr>
        <p:spPr>
          <a:xfrm>
            <a:off x="6675120" y="2834640"/>
            <a:ext cx="1737360" cy="13716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 and our objectives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234440"/>
            <a:ext cx="38404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Indian smartphone market has many brands, models, price points and retail channels. Buyers, retailers and brand managers need a data-backed view of how brands compare on price, discount, rating and sales volume. Without it, pricing and stocking decisions rely on guesswork.</a:t>
            </a:r>
            <a:endParaRPr lang="en-US" sz="1400" dirty="0"/>
          </a:p>
        </p:txBody>
      </p:sp>
      <p:sp>
        <p:nvSpPr>
          <p:cNvPr id="6" name="Objective card"/>
          <p:cNvSpPr/>
          <p:nvPr/>
        </p:nvSpPr>
        <p:spPr>
          <a:xfrm>
            <a:off x="4572000" y="1234440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Number badge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234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brands on price, MRP, discount and rating</a:t>
            </a:r>
            <a:endParaRPr lang="en-US" sz="1400" dirty="0"/>
          </a:p>
        </p:txBody>
      </p:sp>
      <p:sp>
        <p:nvSpPr>
          <p:cNvPr id="10" name="Objective card"/>
          <p:cNvSpPr/>
          <p:nvPr/>
        </p:nvSpPr>
        <p:spPr>
          <a:xfrm>
            <a:off x="4572000" y="2084832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Number badge"/>
          <p:cNvSpPr/>
          <p:nvPr/>
        </p:nvSpPr>
        <p:spPr>
          <a:xfrm>
            <a:off x="4754880" y="222199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0848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top brands, cities, retailers and launch years by units</a:t>
            </a:r>
            <a:endParaRPr lang="en-US" sz="1400" dirty="0"/>
          </a:p>
        </p:txBody>
      </p:sp>
      <p:sp>
        <p:nvSpPr>
          <p:cNvPr id="14" name="Objective card"/>
          <p:cNvSpPr/>
          <p:nvPr/>
        </p:nvSpPr>
        <p:spPr>
          <a:xfrm>
            <a:off x="4572000" y="2935224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Number badge"/>
          <p:cNvSpPr/>
          <p:nvPr/>
        </p:nvSpPr>
        <p:spPr>
          <a:xfrm>
            <a:off x="4754880" y="307238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9352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 OS, RAM and specs to price and sales</a:t>
            </a:r>
            <a:endParaRPr lang="en-US" sz="1400" dirty="0"/>
          </a:p>
        </p:txBody>
      </p:sp>
      <p:sp>
        <p:nvSpPr>
          <p:cNvPr id="18" name="Objective card"/>
          <p:cNvSpPr/>
          <p:nvPr/>
        </p:nvSpPr>
        <p:spPr>
          <a:xfrm>
            <a:off x="4572000" y="3785616"/>
            <a:ext cx="4114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Number badge"/>
          <p:cNvSpPr/>
          <p:nvPr/>
        </p:nvSpPr>
        <p:spPr>
          <a:xfrm>
            <a:off x="4754880" y="392277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7856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Deliver an interactive Power BI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business questions</a:t>
            </a:r>
            <a:endParaRPr lang="en-US" sz="3200" dirty="0"/>
          </a:p>
        </p:txBody>
      </p:sp>
      <p:sp>
        <p:nvSpPr>
          <p:cNvPr id="3" name="Question card"/>
          <p:cNvSpPr/>
          <p:nvPr/>
        </p:nvSpPr>
        <p:spPr>
          <a:xfrm>
            <a:off x="457200" y="1234440"/>
            <a:ext cx="262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brands sell the most units, and what is each brand's share?</a:t>
            </a:r>
            <a:endParaRPr lang="en-US" sz="1400" dirty="0"/>
          </a:p>
        </p:txBody>
      </p:sp>
      <p:sp>
        <p:nvSpPr>
          <p:cNvPr id="6" name="Question card"/>
          <p:cNvSpPr/>
          <p:nvPr/>
        </p:nvSpPr>
        <p:spPr>
          <a:xfrm>
            <a:off x="3264408" y="1234440"/>
            <a:ext cx="262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average price and discount differ across brands?</a:t>
            </a:r>
            <a:endParaRPr lang="en-US" sz="1400" dirty="0"/>
          </a:p>
        </p:txBody>
      </p:sp>
      <p:sp>
        <p:nvSpPr>
          <p:cNvPr id="9" name="Question card"/>
          <p:cNvSpPr/>
          <p:nvPr/>
        </p:nvSpPr>
        <p:spPr>
          <a:xfrm>
            <a:off x="6071616" y="1234440"/>
            <a:ext cx="262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cities and retailers contribute the most units?</a:t>
            </a:r>
            <a:endParaRPr lang="en-US" sz="1400" dirty="0"/>
          </a:p>
        </p:txBody>
      </p:sp>
      <p:sp>
        <p:nvSpPr>
          <p:cNvPr id="12" name="Question card"/>
          <p:cNvSpPr/>
          <p:nvPr/>
        </p:nvSpPr>
        <p:spPr>
          <a:xfrm>
            <a:off x="457200" y="2926080"/>
            <a:ext cx="262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ratings vary by brand, launch year and city?</a:t>
            </a:r>
            <a:endParaRPr lang="en-US" sz="1400" dirty="0"/>
          </a:p>
        </p:txBody>
      </p:sp>
      <p:sp>
        <p:nvSpPr>
          <p:cNvPr id="15" name="Question card"/>
          <p:cNvSpPr/>
          <p:nvPr/>
        </p:nvSpPr>
        <p:spPr>
          <a:xfrm>
            <a:off x="3264408" y="2926080"/>
            <a:ext cx="262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3008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does price vary with RAM and operating system?</a:t>
            </a:r>
            <a:endParaRPr lang="en-US" sz="1400" dirty="0"/>
          </a:p>
        </p:txBody>
      </p:sp>
      <p:sp>
        <p:nvSpPr>
          <p:cNvPr id="18" name="Question card"/>
          <p:cNvSpPr/>
          <p:nvPr/>
        </p:nvSpPr>
        <p:spPr>
          <a:xfrm>
            <a:off x="6071616" y="2926080"/>
            <a:ext cx="262432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0216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3566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there a link between price, rating and units sold?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 at a glance</a:t>
            </a:r>
            <a:endParaRPr lang="en-US" sz="3200" dirty="0"/>
          </a:p>
        </p:txBody>
      </p:sp>
      <p:sp>
        <p:nvSpPr>
          <p:cNvPr id="3" name="Stat card"/>
          <p:cNvSpPr/>
          <p:nvPr/>
        </p:nvSpPr>
        <p:spPr>
          <a:xfrm>
            <a:off x="45720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5,000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rows</a:t>
            </a:r>
            <a:endParaRPr lang="en-US" sz="1400" dirty="0"/>
          </a:p>
        </p:txBody>
      </p:sp>
      <p:sp>
        <p:nvSpPr>
          <p:cNvPr id="6" name="Stat card"/>
          <p:cNvSpPr/>
          <p:nvPr/>
        </p:nvSpPr>
        <p:spPr>
          <a:xfrm>
            <a:off x="256032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298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20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columns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466344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98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10 / 80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brands / models</a:t>
            </a:r>
            <a:endParaRPr lang="en-US" sz="1400" dirty="0"/>
          </a:p>
        </p:txBody>
      </p:sp>
      <p:sp>
        <p:nvSpPr>
          <p:cNvPr id="12" name="Stat card"/>
          <p:cNvSpPr/>
          <p:nvPr/>
        </p:nvSpPr>
        <p:spPr>
          <a:xfrm>
            <a:off x="6766560" y="1188720"/>
            <a:ext cx="19202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298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10 / 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cities / retailers</a:t>
            </a:r>
            <a:endParaRPr lang="en-US" sz="1400" dirty="0"/>
          </a:p>
        </p:txBody>
      </p:sp>
      <p:sp>
        <p:nvSpPr>
          <p:cNvPr id="15" name="Quality card"/>
          <p:cNvSpPr/>
          <p:nvPr/>
        </p:nvSpPr>
        <p:spPr>
          <a:xfrm>
            <a:off x="457200" y="2651760"/>
            <a:ext cx="32918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quality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2004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missing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duplicate Product IDs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Launch years 2022 – 2026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prices in INR</a:t>
            </a:r>
            <a:endParaRPr lang="en-US" sz="1400" dirty="0"/>
          </a:p>
        </p:txBody>
      </p:sp>
      <p:sp>
        <p:nvSpPr>
          <p:cNvPr id="18" name="Columns card"/>
          <p:cNvSpPr/>
          <p:nvPr/>
        </p:nvSpPr>
        <p:spPr>
          <a:xfrm>
            <a:off x="3931920" y="2651760"/>
            <a:ext cx="47548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Column groups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20040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brand, model, launch year, OS, network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Specs: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RAM, storage, battery, screen, camera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Pricing: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MRP, selling price, discount 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units, rating, retailer, city, colour, warranty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Tools and project workflow</a:t>
            </a:r>
            <a:endParaRPr lang="en-US" sz="3200" dirty="0"/>
          </a:p>
        </p:txBody>
      </p:sp>
      <p:sp>
        <p:nvSpPr>
          <p:cNvPr id="3" name="Workflow line"/>
          <p:cNvSpPr/>
          <p:nvPr/>
        </p:nvSpPr>
        <p:spPr>
          <a:xfrm>
            <a:off x="1143000" y="1508760"/>
            <a:ext cx="68580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Problem and dataset</a:t>
            </a:r>
            <a:endParaRPr lang="en-US" sz="1400" dirty="0"/>
          </a:p>
        </p:txBody>
      </p:sp>
      <p:sp>
        <p:nvSpPr>
          <p:cNvPr id="7" name="Number badge"/>
          <p:cNvSpPr/>
          <p:nvPr/>
        </p:nvSpPr>
        <p:spPr>
          <a:xfrm>
            <a:off x="2194560" y="12344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MySQL setup</a:t>
            </a:r>
            <a:endParaRPr lang="en-US" sz="1400" dirty="0"/>
          </a:p>
        </p:txBody>
      </p:sp>
      <p:sp>
        <p:nvSpPr>
          <p:cNvPr id="10" name="Number badge"/>
          <p:cNvSpPr/>
          <p:nvPr/>
        </p:nvSpPr>
        <p:spPr>
          <a:xfrm>
            <a:off x="3566160" y="12344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 cleaning and analysis</a:t>
            </a:r>
            <a:endParaRPr lang="en-US" sz="1400" dirty="0"/>
          </a:p>
        </p:txBody>
      </p:sp>
      <p:sp>
        <p:nvSpPr>
          <p:cNvPr id="13" name="Number badge"/>
          <p:cNvSpPr/>
          <p:nvPr/>
        </p:nvSpPr>
        <p:spPr>
          <a:xfrm>
            <a:off x="4937760" y="12344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 BI model</a:t>
            </a:r>
            <a:endParaRPr lang="en-US" sz="1400" dirty="0"/>
          </a:p>
        </p:txBody>
      </p:sp>
      <p:sp>
        <p:nvSpPr>
          <p:cNvPr id="16" name="Number badge"/>
          <p:cNvSpPr/>
          <p:nvPr/>
        </p:nvSpPr>
        <p:spPr>
          <a:xfrm>
            <a:off x="6309360" y="12344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build</a:t>
            </a:r>
            <a:endParaRPr lang="en-US" sz="1400" dirty="0"/>
          </a:p>
        </p:txBody>
      </p:sp>
      <p:sp>
        <p:nvSpPr>
          <p:cNvPr id="19" name="Number badge"/>
          <p:cNvSpPr/>
          <p:nvPr/>
        </p:nvSpPr>
        <p:spPr>
          <a:xfrm>
            <a:off x="7680960" y="12344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9202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Insights and actions</a:t>
            </a:r>
            <a:endParaRPr lang="en-US" sz="1400" dirty="0"/>
          </a:p>
        </p:txBody>
      </p:sp>
      <p:sp>
        <p:nvSpPr>
          <p:cNvPr id="22" name="Tool card"/>
          <p:cNvSpPr/>
          <p:nvPr/>
        </p:nvSpPr>
        <p:spPr>
          <a:xfrm>
            <a:off x="457200" y="283464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MySQL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setup and SQL analysis</a:t>
            </a:r>
            <a:endParaRPr lang="en-US" sz="1400" dirty="0"/>
          </a:p>
        </p:txBody>
      </p:sp>
      <p:sp>
        <p:nvSpPr>
          <p:cNvPr id="25" name="Tool card"/>
          <p:cNvSpPr/>
          <p:nvPr/>
        </p:nvSpPr>
        <p:spPr>
          <a:xfrm>
            <a:off x="2560320" y="283464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SQL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Cleaning, transformation and queries</a:t>
            </a:r>
            <a:endParaRPr lang="en-US" sz="1400" dirty="0"/>
          </a:p>
        </p:txBody>
      </p:sp>
      <p:sp>
        <p:nvSpPr>
          <p:cNvPr id="28" name="Tool card"/>
          <p:cNvSpPr/>
          <p:nvPr/>
        </p:nvSpPr>
        <p:spPr>
          <a:xfrm>
            <a:off x="4663440" y="283464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Power BI Desktop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model and four-page dashboard</a:t>
            </a:r>
            <a:endParaRPr lang="en-US" sz="1400" dirty="0"/>
          </a:p>
        </p:txBody>
      </p:sp>
      <p:sp>
        <p:nvSpPr>
          <p:cNvPr id="31" name="Tool card"/>
          <p:cNvSpPr/>
          <p:nvPr/>
        </p:nvSpPr>
        <p:spPr>
          <a:xfrm>
            <a:off x="6766560" y="283464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DAX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Measures for units, price, rating and discount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SQL analysis in MySQL</a:t>
            </a:r>
            <a:endParaRPr lang="en-US" sz="3200" dirty="0"/>
          </a:p>
        </p:txBody>
      </p:sp>
      <p:sp>
        <p:nvSpPr>
          <p:cNvPr id="3" name="Code card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Brand units and market share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Brand,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SUM(Units_Sold) AS total_units,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ROUND(SUM(Units_Sold) * 100.0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SUM(SUM(Units_Sold)) OVER (),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share_pct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smartphone_price_comparison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Brand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total_units DESC;</a:t>
            </a:r>
            <a:endParaRPr lang="en-US" sz="1200" dirty="0"/>
          </a:p>
        </p:txBody>
      </p:sp>
      <p:sp>
        <p:nvSpPr>
          <p:cNvPr id="6" name="Query card"/>
          <p:cNvSpPr/>
          <p:nvPr/>
        </p:nvSpPr>
        <p:spPr>
          <a:xfrm>
            <a:off x="5486400" y="118872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Brand share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16642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units and share of all units per brand</a:t>
            </a:r>
            <a:endParaRPr lang="en-US" sz="1400" dirty="0"/>
          </a:p>
        </p:txBody>
      </p:sp>
      <p:sp>
        <p:nvSpPr>
          <p:cNvPr id="9" name="Query card"/>
          <p:cNvSpPr/>
          <p:nvPr/>
        </p:nvSpPr>
        <p:spPr>
          <a:xfrm>
            <a:off x="5486400" y="237744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Brand pricing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852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price, discount and rating by brand</a:t>
            </a:r>
            <a:endParaRPr lang="en-US" sz="1400" dirty="0"/>
          </a:p>
        </p:txBody>
      </p:sp>
      <p:sp>
        <p:nvSpPr>
          <p:cNvPr id="12" name="Query card"/>
          <p:cNvSpPr/>
          <p:nvPr/>
        </p:nvSpPr>
        <p:spPr>
          <a:xfrm>
            <a:off x="5486400" y="3566160"/>
            <a:ext cx="32004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City sales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 units sold by city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Four-page Power BI dashboard</a:t>
            </a:r>
            <a:endParaRPr lang="en-US" sz="3200" dirty="0"/>
          </a:p>
        </p:txBody>
      </p:sp>
      <p:sp>
        <p:nvSpPr>
          <p:cNvPr id="3" name="Page card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Market Overview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KPI cards, units and price by brand, units by OS; City, Brand and Color slicers</a:t>
            </a:r>
            <a:endParaRPr lang="en-US" sz="1400" dirty="0"/>
          </a:p>
        </p:txBody>
      </p:sp>
      <p:sp>
        <p:nvSpPr>
          <p:cNvPr id="8" name="Page card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Number badge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Sales Performance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by brand, retailer and city; launch-year slicer</a:t>
            </a:r>
            <a:endParaRPr lang="en-US" sz="1400" dirty="0"/>
          </a:p>
        </p:txBody>
      </p:sp>
      <p:sp>
        <p:nvSpPr>
          <p:cNvPr id="13" name="Page card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Number badge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Pricing and Discount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 by brand and RAM; discount vs units combo chart; model table</a:t>
            </a:r>
            <a:endParaRPr lang="en-US" sz="1400" dirty="0"/>
          </a:p>
        </p:txBody>
      </p:sp>
      <p:sp>
        <p:nvSpPr>
          <p:cNvPr id="18" name="Page card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Number badge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Specs and Customer Rating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 vs rating scatter; rating matrix by brand and year; city 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Headline numbers</a:t>
            </a:r>
            <a:endParaRPr lang="en-US" sz="3200" dirty="0"/>
          </a:p>
        </p:txBody>
      </p:sp>
      <p:sp>
        <p:nvSpPr>
          <p:cNvPr id="3" name="KPI card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1,255,453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Total units sold</a:t>
            </a:r>
            <a:endParaRPr lang="en-US" sz="1600" dirty="0"/>
          </a:p>
        </p:txBody>
      </p:sp>
      <p:sp>
        <p:nvSpPr>
          <p:cNvPr id="6" name="KPI card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₹43,225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Average selling price</a:t>
            </a:r>
            <a:endParaRPr lang="en-US" sz="1600" dirty="0"/>
          </a:p>
        </p:txBody>
      </p:sp>
      <p:sp>
        <p:nvSpPr>
          <p:cNvPr id="9" name="KPI card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12.47%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Average discount</a:t>
            </a:r>
            <a:endParaRPr lang="en-US" sz="1600" dirty="0"/>
          </a:p>
        </p:txBody>
      </p:sp>
      <p:sp>
        <p:nvSpPr>
          <p:cNvPr id="12" name="KPI card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063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4.09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Average customer rating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4A8"/>
                </a:solidFill>
              </a:rPr>
              <a:t>Based on 5,000 records. Findings describe this dataset only, not the real market.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Samsung leads on units sold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re card"/>
          <p:cNvSpPr/>
          <p:nvPr/>
        </p:nvSpPr>
        <p:spPr>
          <a:xfrm>
            <a:off x="5669280" y="1188720"/>
            <a:ext cx="30175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1887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17.90%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188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Samsung share of units</a:t>
            </a:r>
            <a:endParaRPr lang="en-US" sz="1400" dirty="0"/>
          </a:p>
        </p:txBody>
      </p:sp>
      <p:sp>
        <p:nvSpPr>
          <p:cNvPr id="7" name="Share card"/>
          <p:cNvSpPr/>
          <p:nvPr/>
        </p:nvSpPr>
        <p:spPr>
          <a:xfrm>
            <a:off x="5669280" y="2103120"/>
            <a:ext cx="30175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1031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14.12%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103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Xiaomi share of units</a:t>
            </a:r>
            <a:endParaRPr lang="en-US" sz="1400" dirty="0"/>
          </a:p>
        </p:txBody>
      </p:sp>
      <p:sp>
        <p:nvSpPr>
          <p:cNvPr id="10" name="Share card"/>
          <p:cNvSpPr/>
          <p:nvPr/>
        </p:nvSpPr>
        <p:spPr>
          <a:xfrm>
            <a:off x="5669280" y="3017520"/>
            <a:ext cx="30175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30175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11.78%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017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Apple share of units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Nothing is lowest at 63,552 units (5.06%).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Price tier separates the brands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669280" y="1188720"/>
            <a:ext cx="301752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984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≈2×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iOS vs Android average price (₹78,810 vs ₹38,519)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5669280" y="3017520"/>
            <a:ext cx="30175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31272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≈1.00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3840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Correlation between selling price and MRP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the units are sold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ct card"/>
          <p:cNvSpPr/>
          <p:nvPr/>
        </p:nvSpPr>
        <p:spPr>
          <a:xfrm>
            <a:off x="4572000" y="1188720"/>
            <a:ext cx="41148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754880" y="11887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City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Madurai leads (136,001 units); Delhi is lowest (113,148)</a:t>
            </a:r>
            <a:endParaRPr lang="en-US" sz="1400" dirty="0"/>
          </a:p>
        </p:txBody>
      </p:sp>
      <p:sp>
        <p:nvSpPr>
          <p:cNvPr id="6" name="Fact card"/>
          <p:cNvSpPr/>
          <p:nvPr/>
        </p:nvSpPr>
        <p:spPr>
          <a:xfrm>
            <a:off x="4572000" y="2057400"/>
            <a:ext cx="41148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0" y="20574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Retailer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Brand Store leads (215,908); gaps are small, Amazon India lowest (202,107)</a:t>
            </a:r>
            <a:endParaRPr lang="en-US" sz="1400" dirty="0"/>
          </a:p>
        </p:txBody>
      </p:sp>
      <p:sp>
        <p:nvSpPr>
          <p:cNvPr id="8" name="Fact card"/>
          <p:cNvSpPr/>
          <p:nvPr/>
        </p:nvSpPr>
        <p:spPr>
          <a:xfrm>
            <a:off x="4572000" y="2926080"/>
            <a:ext cx="41148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29260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Launch year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2024 phones sell most (405,214 units, 32.3%), then 2025 (366,838)</a:t>
            </a:r>
            <a:endParaRPr lang="en-US" sz="1400" dirty="0"/>
          </a:p>
        </p:txBody>
      </p:sp>
      <p:sp>
        <p:nvSpPr>
          <p:cNvPr id="10" name="Fact card"/>
          <p:cNvSpPr/>
          <p:nvPr/>
        </p:nvSpPr>
        <p:spPr>
          <a:xfrm>
            <a:off x="4572000" y="3794760"/>
            <a:ext cx="41148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54880" y="37947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RAM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GB sells most (485,885 units, 38.7%), then 12 GB (306,275)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4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Findings and recommendations</a:t>
            </a:r>
            <a:endParaRPr lang="en-US" sz="3200" dirty="0"/>
          </a:p>
        </p:txBody>
      </p:sp>
      <p:sp>
        <p:nvSpPr>
          <p:cNvPr id="3" name="Findings card"/>
          <p:cNvSpPr/>
          <p:nvPr/>
        </p:nvSpPr>
        <p:spPr>
          <a:xfrm>
            <a:off x="457200" y="1188720"/>
            <a:ext cx="402336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What the data shows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Brand ratings sit in a narrow band, 4.05 to 4.13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Brand discounts range only from 11.99% to 12.99%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Price barely relates to rating (≈0.00) or discount (≈0.03)</a:t>
            </a:r>
            <a:endParaRPr lang="en-US" sz="1400" dirty="0"/>
          </a:p>
        </p:txBody>
      </p:sp>
      <p:sp>
        <p:nvSpPr>
          <p:cNvPr id="6" name="Recommendations card"/>
          <p:cNvSpPr/>
          <p:nvPr/>
        </p:nvSpPr>
        <p:spPr>
          <a:xfrm>
            <a:off x="4663440" y="1188720"/>
            <a:ext cx="402336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Stock deeper on Samsung, Xiaomi, Apple and on 8 GB and 12 GB variants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Differentiate on price tier and volume, not rating or discount depth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Explore growth in lower-volume cities such as Delhi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Findings describe this dataset only, not the real market.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nset Phone">
  <a:themeElements>
    <a:clrScheme name="Sunset Phone">
      <a:dk1>
        <a:srgbClr val="1B1340"/>
      </a:dk1>
      <a:lt1>
        <a:srgbClr val="FFFFFF"/>
      </a:lt1>
      <a:dk2>
        <a:srgbClr val="3B2F6B"/>
      </a:dk2>
      <a:lt2>
        <a:srgbClr val="F3EFFA"/>
      </a:lt2>
      <a:accent1>
        <a:srgbClr val="FF7A45"/>
      </a:accent1>
      <a:accent2>
        <a:srgbClr val="E94F7A"/>
      </a:accent2>
      <a:accent3>
        <a:srgbClr val="7C5CFF"/>
      </a:accent3>
      <a:accent4>
        <a:srgbClr val="FFB84D"/>
      </a:accent4>
      <a:accent5>
        <a:srgbClr val="2EC4B6"/>
      </a:accent5>
      <a:accent6>
        <a:srgbClr val="8A84A8"/>
      </a:accent6>
      <a:hlink>
        <a:srgbClr val="7C5CFF"/>
      </a:hlink>
      <a:folHlink>
        <a:srgbClr val="8A84A8"/>
      </a:folHlink>
    </a:clrScheme>
    <a:fontScheme name="Sunset Ph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Smartphone Price Comparison</dc:title>
  <dc:subject>PptxGenJS Presentation</dc:subject>
  <dc:creator>JAYASABARI</dc:creator>
  <cp:lastModifiedBy>JAYASABARI</cp:lastModifiedBy>
  <cp:revision>1</cp:revision>
  <dcterms:created xsi:type="dcterms:W3CDTF">2026-10-27T03:47:57Z</dcterms:created>
  <dcterms:modified xsi:type="dcterms:W3CDTF">2026-10-27T03:47:57Z</dcterms:modified>
</cp:coreProperties>
</file>